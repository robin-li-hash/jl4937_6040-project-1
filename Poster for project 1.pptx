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0000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491"/>
    <p:restoredTop sz="94640"/>
  </p:normalViewPr>
  <p:slideViewPr>
    <p:cSldViewPr snapToGrid="0">
      <p:cViewPr varScale="1">
        <p:scale>
          <a:sx n="78" d="100"/>
          <a:sy n="78" d="100"/>
        </p:scale>
        <p:origin x="111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>
            <a:extLst>
              <a:ext uri="{FF2B5EF4-FFF2-40B4-BE49-F238E27FC236}">
                <a16:creationId xmlns:a16="http://schemas.microsoft.com/office/drawing/2014/main" id="{56E28097-F430-5133-3CA7-635CF2068CC9}"/>
              </a:ext>
            </a:extLst>
          </p:cNvPr>
          <p:cNvSpPr/>
          <p:nvPr/>
        </p:nvSpPr>
        <p:spPr>
          <a:xfrm>
            <a:off x="0" y="0"/>
            <a:ext cx="12192000" cy="939800"/>
          </a:xfrm>
          <a:prstGeom prst="rect">
            <a:avLst/>
          </a:prstGeom>
          <a:solidFill>
            <a:srgbClr val="A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3"/>
          <p:cNvSpPr txBox="1"/>
          <p:nvPr/>
        </p:nvSpPr>
        <p:spPr>
          <a:xfrm>
            <a:off x="190500" y="-6350"/>
            <a:ext cx="1181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2000" b="1" i="0" u="none" strike="noStrike" dirty="0">
                <a:solidFill>
                  <a:schemeClr val="bg1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Recovering Missing Dairy Cow Identities Using Historical Candidate Retrieval and Gradient Boosting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254000" y="1066800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1 BACKGROUND &amp; OBJECTIVE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nector 7"/>
          <p:cNvCxnSpPr/>
          <p:nvPr/>
        </p:nvCxnSpPr>
        <p:spPr>
          <a:xfrm rot="-11854">
            <a:off x="254011" y="13017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260348" y="1270000"/>
            <a:ext cx="368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Missing animal identifiers limit the use of longitudinal dairy production records. This project investigates whether milking-session and temporal information can recover missing </a:t>
            </a:r>
            <a:r>
              <a:rPr lang="en-US" sz="850" b="0" i="0" u="none" strike="noStrike" dirty="0" err="1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AnimalId</a:t>
            </a: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values. Because thousands of animals are possible candidates, a two-stage candidate-generation and reranking approach was developed. </a:t>
            </a:r>
          </a:p>
          <a:p>
            <a:pPr marL="0" indent="0" algn="l">
              <a:lnSpc>
                <a:spcPct val="108333"/>
              </a:lnSpc>
              <a:defRPr/>
            </a:pP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Due to computer </a:t>
            </a:r>
            <a:r>
              <a:rPr lang="en-US" sz="85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limit(8GB</a:t>
            </a: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), we just extract part of the dataset to train the model and do validation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85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Objective:</a:t>
            </a: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Predict the most likely </a:t>
            </a:r>
            <a:r>
              <a:rPr lang="en-US" sz="850" b="0" i="0" u="none" strike="noStrike" dirty="0" err="1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AnimalId</a:t>
            </a: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for records with missing identifiers using historical cow and milking information.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241297" y="2514600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2 DATASET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11854">
            <a:off x="254010" y="2724149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253999" y="2774950"/>
            <a:ext cx="3683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850" b="1" i="0" u="none" strike="noStrike" dirty="0">
                <a:solidFill>
                  <a:srgbClr val="282622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Main predictors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253999" y="2959100"/>
            <a:ext cx="3683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14300" indent="-114300" algn="l">
              <a:lnSpc>
                <a:spcPct val="108333"/>
              </a:lnSpc>
              <a:buClr>
                <a:srgbClr val="3C3A36"/>
              </a:buClr>
              <a:buChar char="•"/>
              <a:defRPr/>
            </a:pP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Lactation number / days in milk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-114300" algn="l">
              <a:lnSpc>
                <a:spcPct val="108333"/>
              </a:lnSpc>
              <a:buClr>
                <a:srgbClr val="3C3A36"/>
              </a:buClr>
              <a:buChar char="•"/>
            </a:pP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Reproduction status</a:t>
            </a:r>
          </a:p>
          <a:p>
            <a:pPr marL="114300" indent="-114300" algn="l">
              <a:lnSpc>
                <a:spcPct val="108333"/>
              </a:lnSpc>
              <a:buClr>
                <a:srgbClr val="3C3A36"/>
              </a:buClr>
              <a:buChar char="•"/>
            </a:pP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Milk flow and milk yield</a:t>
            </a:r>
          </a:p>
          <a:p>
            <a:pPr marL="114300" indent="-114300" algn="l">
              <a:lnSpc>
                <a:spcPct val="108333"/>
              </a:lnSpc>
              <a:buClr>
                <a:srgbClr val="3C3A36"/>
              </a:buClr>
              <a:buChar char="•"/>
            </a:pPr>
            <a:r>
              <a:rPr lang="en-US" sz="85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Milking duration and event date</a:t>
            </a:r>
          </a:p>
        </p:txBody>
      </p:sp>
      <p:sp>
        <p:nvSpPr>
          <p:cNvPr id="13" name="AutoShape 13"/>
          <p:cNvSpPr txBox="1"/>
          <p:nvPr/>
        </p:nvSpPr>
        <p:spPr>
          <a:xfrm>
            <a:off x="253999" y="35814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800" b="0" i="1" u="none" strike="noStrike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Labelled records were used for model development and evaluation; records with missing AnimalId were reserved for final inference.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253999" y="5110716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4</a:t>
            </a: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CHRONOLOGICAL SPLIT (60 / 20 / 20)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1854">
            <a:off x="254010" y="5345666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53999" y="5517116"/>
            <a:ext cx="2209800" cy="2032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279399" y="5517116"/>
            <a:ext cx="2159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50" b="1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TRAIN 60%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514599" y="5517116"/>
            <a:ext cx="736600" cy="203200"/>
          </a:xfrm>
          <a:prstGeom prst="roundRect">
            <a:avLst>
              <a:gd name="adj" fmla="val 0"/>
            </a:avLst>
          </a:prstGeom>
          <a:solidFill>
            <a:srgbClr val="7874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2539999" y="5517116"/>
            <a:ext cx="685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1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VAL 20%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3289299" y="5517116"/>
            <a:ext cx="647700" cy="203200"/>
          </a:xfrm>
          <a:prstGeom prst="roundRect">
            <a:avLst>
              <a:gd name="adj" fmla="val 0"/>
            </a:avLst>
          </a:prstGeom>
          <a:solidFill>
            <a:srgbClr val="C8C4B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3289299" y="5517116"/>
            <a:ext cx="6477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00" b="1" i="0" u="none" strike="noStrike">
                <a:solidFill>
                  <a:srgbClr val="282622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TEST 20%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253999" y="5745716"/>
            <a:ext cx="22098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68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2019-06-14 → 2020-12-13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AutoShape 23"/>
          <p:cNvSpPr txBox="1"/>
          <p:nvPr/>
        </p:nvSpPr>
        <p:spPr>
          <a:xfrm>
            <a:off x="2514599" y="5745716"/>
            <a:ext cx="7366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68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2020-12-14 → 2021-05-20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3301999" y="5740400"/>
            <a:ext cx="762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680" b="0" i="0" u="none" strike="noStrike" dirty="0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2021-05-21 → 2021-10-24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AutoShape 25"/>
          <p:cNvSpPr txBox="1"/>
          <p:nvPr/>
        </p:nvSpPr>
        <p:spPr>
          <a:xfrm>
            <a:off x="253999" y="5867400"/>
            <a:ext cx="3683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Train: </a:t>
            </a:r>
            <a:r>
              <a:rPr lang="en-US" sz="800" b="1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3,985,088</a:t>
            </a: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rows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Validation: </a:t>
            </a:r>
            <a:r>
              <a:rPr lang="en-US" sz="800" b="1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1,327,822</a:t>
            </a: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rows</a:t>
            </a:r>
          </a:p>
          <a:p>
            <a:pPr marL="0" indent="0" algn="l">
              <a:lnSpc>
                <a:spcPct val="108333"/>
              </a:lnSpc>
            </a:pP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Test: </a:t>
            </a:r>
            <a:r>
              <a:rPr lang="en-US" sz="800" b="1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1,332,262</a:t>
            </a: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rows</a:t>
            </a:r>
          </a:p>
        </p:txBody>
      </p:sp>
      <p:sp>
        <p:nvSpPr>
          <p:cNvPr id="26" name="AutoShape 26"/>
          <p:cNvSpPr txBox="1"/>
          <p:nvPr/>
        </p:nvSpPr>
        <p:spPr>
          <a:xfrm>
            <a:off x="253999" y="6272922"/>
            <a:ext cx="368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800" b="0" i="1" u="none" strike="noStrike" dirty="0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 chronological split reduces temporal leakage from repeated observations of the same animals.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utoShape 27"/>
          <p:cNvSpPr txBox="1"/>
          <p:nvPr/>
        </p:nvSpPr>
        <p:spPr>
          <a:xfrm>
            <a:off x="4127500" y="1066800"/>
            <a:ext cx="393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5 FINAL MODELING 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Connector 28"/>
          <p:cNvCxnSpPr/>
          <p:nvPr/>
        </p:nvCxnSpPr>
        <p:spPr>
          <a:xfrm rot="-11089">
            <a:off x="4127510" y="13017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889500" y="1422400"/>
            <a:ext cx="2540000" cy="228600"/>
          </a:xfrm>
          <a:prstGeom prst="roundRect">
            <a:avLst>
              <a:gd name="adj" fmla="val 0"/>
            </a:avLst>
          </a:prstGeom>
          <a:solidFill>
            <a:srgbClr val="EEEAE2">
              <a:alpha val="100000"/>
            </a:srgbClr>
          </a:solidFill>
          <a:ln w="12700" cap="flat" cmpd="sng">
            <a:solidFill>
              <a:srgbClr val="B4B0A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AutoShape 30"/>
          <p:cNvSpPr txBox="1"/>
          <p:nvPr/>
        </p:nvSpPr>
        <p:spPr>
          <a:xfrm>
            <a:off x="4889500" y="1422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32302C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Historical cow records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Connector 31"/>
          <p:cNvCxnSpPr/>
          <p:nvPr/>
        </p:nvCxnSpPr>
        <p:spPr>
          <a:xfrm rot="4912193">
            <a:off x="6115050" y="1702251"/>
            <a:ext cx="8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746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2" name="AutoShape 32"/>
          <p:cNvSpPr/>
          <p:nvPr/>
        </p:nvSpPr>
        <p:spPr>
          <a:xfrm>
            <a:off x="4889500" y="1778000"/>
            <a:ext cx="2540000" cy="228600"/>
          </a:xfrm>
          <a:prstGeom prst="roundRect">
            <a:avLst>
              <a:gd name="adj" fmla="val 0"/>
            </a:avLst>
          </a:prstGeom>
          <a:solidFill>
            <a:srgbClr val="EEEAE2">
              <a:alpha val="100000"/>
            </a:srgbClr>
          </a:solidFill>
          <a:ln w="12700" cap="flat" cmpd="sng">
            <a:solidFill>
              <a:srgbClr val="B4B0A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AutoShape 33"/>
          <p:cNvSpPr txBox="1"/>
          <p:nvPr/>
        </p:nvSpPr>
        <p:spPr>
          <a:xfrm>
            <a:off x="4889500" y="17780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32302C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Structural profiles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nector 34"/>
          <p:cNvCxnSpPr/>
          <p:nvPr/>
        </p:nvCxnSpPr>
        <p:spPr>
          <a:xfrm rot="4912193">
            <a:off x="6115050" y="2057851"/>
            <a:ext cx="8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746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5" name="AutoShape 35"/>
          <p:cNvSpPr/>
          <p:nvPr/>
        </p:nvSpPr>
        <p:spPr>
          <a:xfrm>
            <a:off x="4889500" y="2133600"/>
            <a:ext cx="2540000" cy="228600"/>
          </a:xfrm>
          <a:prstGeom prst="roundRect">
            <a:avLst>
              <a:gd name="adj" fmla="val 0"/>
            </a:avLst>
          </a:prstGeom>
          <a:solidFill>
            <a:srgbClr val="EEEAE2">
              <a:alpha val="100000"/>
            </a:srgbClr>
          </a:solidFill>
          <a:ln w="12700" cap="flat" cmpd="sng">
            <a:solidFill>
              <a:srgbClr val="B4B0A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AutoShape 36"/>
          <p:cNvSpPr txBox="1"/>
          <p:nvPr/>
        </p:nvSpPr>
        <p:spPr>
          <a:xfrm>
            <a:off x="4889500" y="21336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32302C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Top-320 candidate animals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Connector 37"/>
          <p:cNvCxnSpPr/>
          <p:nvPr/>
        </p:nvCxnSpPr>
        <p:spPr>
          <a:xfrm rot="4912193">
            <a:off x="6115050" y="2413451"/>
            <a:ext cx="8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746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38" name="AutoShape 38"/>
          <p:cNvSpPr/>
          <p:nvPr/>
        </p:nvSpPr>
        <p:spPr>
          <a:xfrm>
            <a:off x="4889500" y="2489200"/>
            <a:ext cx="2540000" cy="228600"/>
          </a:xfrm>
          <a:prstGeom prst="roundRect">
            <a:avLst>
              <a:gd name="adj" fmla="val 0"/>
            </a:avLst>
          </a:prstGeom>
          <a:solidFill>
            <a:srgbClr val="EEEAE2">
              <a:alpha val="100000"/>
            </a:srgbClr>
          </a:solidFill>
          <a:ln w="12700" cap="flat" cmpd="sng">
            <a:solidFill>
              <a:srgbClr val="B4B0A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AutoShape 39"/>
          <p:cNvSpPr txBox="1"/>
          <p:nvPr/>
        </p:nvSpPr>
        <p:spPr>
          <a:xfrm>
            <a:off x="4889500" y="24892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32302C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Candidate feature engineering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Connector 40"/>
          <p:cNvCxnSpPr/>
          <p:nvPr/>
        </p:nvCxnSpPr>
        <p:spPr>
          <a:xfrm rot="4912193">
            <a:off x="6115050" y="2769051"/>
            <a:ext cx="8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8746C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1" name="AutoShape 41"/>
          <p:cNvSpPr/>
          <p:nvPr/>
        </p:nvSpPr>
        <p:spPr>
          <a:xfrm>
            <a:off x="4889500" y="2844800"/>
            <a:ext cx="2540000" cy="228600"/>
          </a:xfrm>
          <a:prstGeom prst="roundRect">
            <a:avLst>
              <a:gd name="adj" fmla="val 0"/>
            </a:avLst>
          </a:prstGeom>
          <a:solidFill>
            <a:srgbClr val="EEEAE2">
              <a:alpha val="100000"/>
            </a:srgbClr>
          </a:solidFill>
          <a:ln w="12700" cap="flat" cmpd="sng">
            <a:solidFill>
              <a:srgbClr val="B4B0A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AutoShape 42"/>
          <p:cNvSpPr txBox="1"/>
          <p:nvPr/>
        </p:nvSpPr>
        <p:spPr>
          <a:xfrm>
            <a:off x="4889500" y="28448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50" b="0" i="0" u="none" strike="noStrike">
                <a:solidFill>
                  <a:srgbClr val="32302C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Top-160 candidates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Connector 43"/>
          <p:cNvCxnSpPr/>
          <p:nvPr/>
        </p:nvCxnSpPr>
        <p:spPr>
          <a:xfrm rot="4912193">
            <a:off x="6115050" y="3124651"/>
            <a:ext cx="8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31B1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4" name="AutoShape 44"/>
          <p:cNvSpPr/>
          <p:nvPr/>
        </p:nvSpPr>
        <p:spPr>
          <a:xfrm>
            <a:off x="4889500" y="3200400"/>
            <a:ext cx="2540000" cy="2540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AutoShape 45"/>
          <p:cNvSpPr txBox="1"/>
          <p:nvPr/>
        </p:nvSpPr>
        <p:spPr>
          <a:xfrm>
            <a:off x="4889500" y="32004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00" b="1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52-feature Hybrid HGB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Connector 46"/>
          <p:cNvCxnSpPr/>
          <p:nvPr/>
        </p:nvCxnSpPr>
        <p:spPr>
          <a:xfrm rot="4912193">
            <a:off x="6115050" y="3505651"/>
            <a:ext cx="88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31B1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7" name="AutoShape 47"/>
          <p:cNvSpPr/>
          <p:nvPr/>
        </p:nvSpPr>
        <p:spPr>
          <a:xfrm>
            <a:off x="4889500" y="3581400"/>
            <a:ext cx="2540000" cy="228600"/>
          </a:xfrm>
          <a:prstGeom prst="roundRect">
            <a:avLst>
              <a:gd name="adj" fmla="val 0"/>
            </a:avLst>
          </a:prstGeom>
          <a:solidFill>
            <a:srgbClr val="2826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AutoShape 48"/>
          <p:cNvSpPr txBox="1"/>
          <p:nvPr/>
        </p:nvSpPr>
        <p:spPr>
          <a:xfrm>
            <a:off x="4889500" y="3581400"/>
            <a:ext cx="2540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50" b="1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Predicted AnimalId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AutoShape 49"/>
          <p:cNvSpPr txBox="1"/>
          <p:nvPr/>
        </p:nvSpPr>
        <p:spPr>
          <a:xfrm>
            <a:off x="4127500" y="38862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800" b="0" i="1" u="none" strike="noStrike" dirty="0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Instead of classifying among thousands of </a:t>
            </a:r>
            <a:r>
              <a:rPr lang="en-US" sz="800" b="0" i="1" u="none" strike="noStrike" dirty="0" err="1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AnimalIds</a:t>
            </a:r>
            <a:r>
              <a:rPr lang="en-US" sz="800" b="0" i="1" u="none" strike="noStrike" dirty="0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, the model first retrieves plausible animals and then </a:t>
            </a:r>
            <a:r>
              <a:rPr lang="en-US" sz="800" b="0" i="1" u="none" strike="noStrike" dirty="0" err="1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reranks</a:t>
            </a:r>
            <a:r>
              <a:rPr lang="en-US" sz="800" b="0" i="1" u="none" strike="noStrike" dirty="0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them.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AutoShape 50"/>
          <p:cNvSpPr txBox="1"/>
          <p:nvPr/>
        </p:nvSpPr>
        <p:spPr>
          <a:xfrm>
            <a:off x="4127500" y="4292600"/>
            <a:ext cx="393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6</a:t>
            </a: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CANDIDATE FEATURES (52)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Connector 51"/>
          <p:cNvCxnSpPr/>
          <p:nvPr/>
        </p:nvCxnSpPr>
        <p:spPr>
          <a:xfrm rot="-11089">
            <a:off x="4127510" y="45275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2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964926"/>
              </p:ext>
            </p:extLst>
          </p:nvPr>
        </p:nvGraphicFramePr>
        <p:xfrm>
          <a:off x="4127500" y="4610100"/>
          <a:ext cx="3937000" cy="92862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Group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B1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Examples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1B1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780" b="1" i="0" u="none" strike="noStrike">
                          <a:solidFill>
                            <a:srgbClr val="32302C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Structural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2070" marB="52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780" b="0" i="0" u="none" strike="noStrike" dirty="0">
                          <a:solidFill>
                            <a:srgbClr val="3C3A36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Lactation start difference, candidate rank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2070" marB="52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780" b="1" i="0" u="none" strike="noStrike">
                          <a:solidFill>
                            <a:srgbClr val="32302C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Temporal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2070" marB="52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780" b="0" i="0" u="none" strike="noStrike">
                          <a:solidFill>
                            <a:srgbClr val="3C3A36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Recency, lactation gap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2070" marB="52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780" b="1" i="0" u="none" strike="noStrike">
                          <a:solidFill>
                            <a:srgbClr val="32302C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Distance / trajectory</a:t>
                      </a:r>
                      <a:endParaRPr lang="en-US"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2070" marB="520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780" b="0" i="0" u="none" strike="noStrike" dirty="0">
                          <a:solidFill>
                            <a:srgbClr val="3C3A36"/>
                          </a:solidFill>
                          <a:latin typeface="Times New Roman" panose="02020603050405020304" pitchFamily="18" charset="0"/>
                          <a:ea typeface="Noto Sans SC"/>
                          <a:cs typeface="Times New Roman" panose="02020603050405020304" pitchFamily="18" charset="0"/>
                          <a:sym typeface="Noto Sans SC"/>
                        </a:rPr>
                        <a:t>Manhattan/Euclidean distance, cow &amp; DIM prototypes, residuals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2540" marB="25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3" name="AutoShape 53"/>
          <p:cNvSpPr txBox="1"/>
          <p:nvPr/>
        </p:nvSpPr>
        <p:spPr>
          <a:xfrm>
            <a:off x="4127500" y="5588000"/>
            <a:ext cx="3937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7</a:t>
            </a: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KEY CHALLENGE: REFERENCE AGING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Connector 54"/>
          <p:cNvCxnSpPr/>
          <p:nvPr/>
        </p:nvCxnSpPr>
        <p:spPr>
          <a:xfrm rot="-11089">
            <a:off x="4127510" y="582295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AutoShape 55"/>
          <p:cNvSpPr txBox="1"/>
          <p:nvPr/>
        </p:nvSpPr>
        <p:spPr>
          <a:xfrm>
            <a:off x="4127500" y="5880100"/>
            <a:ext cx="3937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Early models performed poorly because historical cow information became stale over time.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AutoShape 56"/>
          <p:cNvSpPr/>
          <p:nvPr/>
        </p:nvSpPr>
        <p:spPr>
          <a:xfrm>
            <a:off x="4127500" y="6235700"/>
            <a:ext cx="1841500" cy="457200"/>
          </a:xfrm>
          <a:prstGeom prst="roundRect">
            <a:avLst>
              <a:gd name="adj" fmla="val 0"/>
            </a:avLst>
          </a:prstGeom>
          <a:solidFill>
            <a:srgbClr val="EEEA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AutoShape 57"/>
          <p:cNvSpPr txBox="1"/>
          <p:nvPr/>
        </p:nvSpPr>
        <p:spPr>
          <a:xfrm>
            <a:off x="4127500" y="6235700"/>
            <a:ext cx="1841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75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Old reference · median staleness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5833"/>
              </a:lnSpc>
            </a:pPr>
            <a:r>
              <a:rPr lang="en-US" sz="1400" b="1" i="0" u="none" strike="noStrike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123 days</a:t>
            </a:r>
          </a:p>
        </p:txBody>
      </p:sp>
      <p:sp>
        <p:nvSpPr>
          <p:cNvPr id="58" name="AutoShape 58"/>
          <p:cNvSpPr/>
          <p:nvPr/>
        </p:nvSpPr>
        <p:spPr>
          <a:xfrm>
            <a:off x="6223000" y="6235700"/>
            <a:ext cx="1841500" cy="4572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AutoShape 59"/>
          <p:cNvSpPr txBox="1"/>
          <p:nvPr/>
        </p:nvSpPr>
        <p:spPr>
          <a:xfrm>
            <a:off x="6223000" y="6235700"/>
            <a:ext cx="1841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750" b="0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Fresh reference · median staleness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5833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46 days</a:t>
            </a:r>
          </a:p>
        </p:txBody>
      </p:sp>
      <p:sp>
        <p:nvSpPr>
          <p:cNvPr id="60" name="AutoShape 60"/>
          <p:cNvSpPr txBox="1"/>
          <p:nvPr/>
        </p:nvSpPr>
        <p:spPr>
          <a:xfrm>
            <a:off x="4127500" y="6731000"/>
            <a:ext cx="3937000" cy="114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80" b="0" i="0" u="none" strike="noStrike">
                <a:solidFill>
                  <a:srgbClr val="6E6A64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Fresh + long-gap snapshots → Hybrid HGB robust to temporal drift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AutoShape 61"/>
          <p:cNvSpPr txBox="1"/>
          <p:nvPr/>
        </p:nvSpPr>
        <p:spPr>
          <a:xfrm>
            <a:off x="8255000" y="1066800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8</a:t>
            </a: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FINAL MODEL PERFORMANCE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Connector 62"/>
          <p:cNvCxnSpPr/>
          <p:nvPr/>
        </p:nvCxnSpPr>
        <p:spPr>
          <a:xfrm rot="-11854">
            <a:off x="8255011" y="13017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Connector 63"/>
          <p:cNvCxnSpPr/>
          <p:nvPr/>
        </p:nvCxnSpPr>
        <p:spPr>
          <a:xfrm rot="-12732">
            <a:off x="8382012" y="27495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4B0A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AutoShape 64"/>
          <p:cNvSpPr/>
          <p:nvPr/>
        </p:nvSpPr>
        <p:spPr>
          <a:xfrm>
            <a:off x="8534400" y="1790700"/>
            <a:ext cx="165100" cy="939800"/>
          </a:xfrm>
          <a:prstGeom prst="roundRect">
            <a:avLst>
              <a:gd name="adj" fmla="val 0"/>
            </a:avLst>
          </a:prstGeom>
          <a:solidFill>
            <a:srgbClr val="9692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AutoShape 65"/>
          <p:cNvSpPr/>
          <p:nvPr/>
        </p:nvSpPr>
        <p:spPr>
          <a:xfrm>
            <a:off x="8737600" y="1841500"/>
            <a:ext cx="165100" cy="8890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AutoShape 66"/>
          <p:cNvSpPr txBox="1"/>
          <p:nvPr/>
        </p:nvSpPr>
        <p:spPr>
          <a:xfrm>
            <a:off x="8407400" y="2794000"/>
            <a:ext cx="6096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8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Coverage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AutoShape 67"/>
          <p:cNvSpPr/>
          <p:nvPr/>
        </p:nvSpPr>
        <p:spPr>
          <a:xfrm>
            <a:off x="9398000" y="2260600"/>
            <a:ext cx="165100" cy="469900"/>
          </a:xfrm>
          <a:prstGeom prst="roundRect">
            <a:avLst>
              <a:gd name="adj" fmla="val 0"/>
            </a:avLst>
          </a:prstGeom>
          <a:solidFill>
            <a:srgbClr val="9692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AutoShape 68"/>
          <p:cNvSpPr/>
          <p:nvPr/>
        </p:nvSpPr>
        <p:spPr>
          <a:xfrm>
            <a:off x="9601200" y="2235200"/>
            <a:ext cx="165100" cy="4953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AutoShape 69"/>
          <p:cNvSpPr txBox="1"/>
          <p:nvPr/>
        </p:nvSpPr>
        <p:spPr>
          <a:xfrm>
            <a:off x="9271000" y="2794000"/>
            <a:ext cx="6096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8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Overall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AutoShape 70"/>
          <p:cNvSpPr/>
          <p:nvPr/>
        </p:nvSpPr>
        <p:spPr>
          <a:xfrm>
            <a:off x="10261600" y="2209800"/>
            <a:ext cx="165100" cy="520700"/>
          </a:xfrm>
          <a:prstGeom prst="roundRect">
            <a:avLst>
              <a:gd name="adj" fmla="val 0"/>
            </a:avLst>
          </a:prstGeom>
          <a:solidFill>
            <a:srgbClr val="9692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AutoShape 71"/>
          <p:cNvSpPr/>
          <p:nvPr/>
        </p:nvSpPr>
        <p:spPr>
          <a:xfrm>
            <a:off x="10464800" y="2184400"/>
            <a:ext cx="165100" cy="5461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AutoShape 72"/>
          <p:cNvSpPr txBox="1"/>
          <p:nvPr/>
        </p:nvSpPr>
        <p:spPr>
          <a:xfrm>
            <a:off x="10134600" y="2794000"/>
            <a:ext cx="6096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8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Seen ID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AutoShape 73"/>
          <p:cNvSpPr/>
          <p:nvPr/>
        </p:nvSpPr>
        <p:spPr>
          <a:xfrm>
            <a:off x="11125200" y="2146300"/>
            <a:ext cx="165100" cy="584200"/>
          </a:xfrm>
          <a:prstGeom prst="roundRect">
            <a:avLst>
              <a:gd name="adj" fmla="val 0"/>
            </a:avLst>
          </a:prstGeom>
          <a:solidFill>
            <a:srgbClr val="9692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AutoShape 74"/>
          <p:cNvSpPr/>
          <p:nvPr/>
        </p:nvSpPr>
        <p:spPr>
          <a:xfrm>
            <a:off x="11328400" y="2095500"/>
            <a:ext cx="165100" cy="6350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AutoShape 75"/>
          <p:cNvSpPr txBox="1"/>
          <p:nvPr/>
        </p:nvSpPr>
        <p:spPr>
          <a:xfrm>
            <a:off x="10998200" y="2794000"/>
            <a:ext cx="6096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8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Cond.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AutoShape 76"/>
          <p:cNvSpPr/>
          <p:nvPr/>
        </p:nvSpPr>
        <p:spPr>
          <a:xfrm>
            <a:off x="8382000" y="1422400"/>
            <a:ext cx="127000" cy="101600"/>
          </a:xfrm>
          <a:prstGeom prst="roundRect">
            <a:avLst>
              <a:gd name="adj" fmla="val 0"/>
            </a:avLst>
          </a:prstGeom>
          <a:solidFill>
            <a:srgbClr val="96928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AutoShape 77"/>
          <p:cNvSpPr txBox="1"/>
          <p:nvPr/>
        </p:nvSpPr>
        <p:spPr>
          <a:xfrm>
            <a:off x="8547100" y="13716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5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Validation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AutoShape 78"/>
          <p:cNvSpPr/>
          <p:nvPr/>
        </p:nvSpPr>
        <p:spPr>
          <a:xfrm>
            <a:off x="9461500" y="1422400"/>
            <a:ext cx="127000" cy="1016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AutoShape 79"/>
          <p:cNvSpPr txBox="1"/>
          <p:nvPr/>
        </p:nvSpPr>
        <p:spPr>
          <a:xfrm>
            <a:off x="9626600" y="1371600"/>
            <a:ext cx="7620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50" b="0" i="0" u="none" strike="noStrike">
                <a:solidFill>
                  <a:srgbClr val="5A5650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Test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AutoShape 80"/>
          <p:cNvSpPr/>
          <p:nvPr/>
        </p:nvSpPr>
        <p:spPr>
          <a:xfrm>
            <a:off x="8255000" y="2997200"/>
            <a:ext cx="1168400" cy="711200"/>
          </a:xfrm>
          <a:prstGeom prst="roundRect">
            <a:avLst>
              <a:gd name="adj" fmla="val 0"/>
            </a:avLst>
          </a:prstGeom>
          <a:solidFill>
            <a:srgbClr val="B31B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AutoShape 81"/>
          <p:cNvSpPr txBox="1"/>
          <p:nvPr/>
        </p:nvSpPr>
        <p:spPr>
          <a:xfrm>
            <a:off x="8255000" y="3022600"/>
            <a:ext cx="1168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43.55%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5833"/>
              </a:lnSpc>
            </a:pPr>
            <a:r>
              <a:rPr lang="en-US" sz="800" b="0" i="0" u="none" strike="noStrike" dirty="0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Final test accuracy</a:t>
            </a:r>
          </a:p>
        </p:txBody>
      </p:sp>
      <p:sp>
        <p:nvSpPr>
          <p:cNvPr id="82" name="AutoShape 82"/>
          <p:cNvSpPr/>
          <p:nvPr/>
        </p:nvSpPr>
        <p:spPr>
          <a:xfrm>
            <a:off x="9512300" y="2997200"/>
            <a:ext cx="1168400" cy="711200"/>
          </a:xfrm>
          <a:prstGeom prst="roundRect">
            <a:avLst>
              <a:gd name="adj" fmla="val 0"/>
            </a:avLst>
          </a:prstGeom>
          <a:solidFill>
            <a:srgbClr val="28262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AutoShape 83"/>
          <p:cNvSpPr txBox="1"/>
          <p:nvPr/>
        </p:nvSpPr>
        <p:spPr>
          <a:xfrm>
            <a:off x="9512300" y="3022600"/>
            <a:ext cx="1168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55.62%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5833"/>
              </a:lnSpc>
            </a:pPr>
            <a:r>
              <a:rPr lang="en-US" sz="750" b="0" i="0" u="none" strike="noStrike">
                <a:solidFill>
                  <a:srgbClr val="FFFFFF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Conditional (in Top-160)</a:t>
            </a:r>
          </a:p>
        </p:txBody>
      </p:sp>
      <p:sp>
        <p:nvSpPr>
          <p:cNvPr id="84" name="AutoShape 84"/>
          <p:cNvSpPr/>
          <p:nvPr/>
        </p:nvSpPr>
        <p:spPr>
          <a:xfrm>
            <a:off x="10769600" y="2997200"/>
            <a:ext cx="1168400" cy="711200"/>
          </a:xfrm>
          <a:prstGeom prst="roundRect">
            <a:avLst>
              <a:gd name="adj" fmla="val 0"/>
            </a:avLst>
          </a:prstGeom>
          <a:solidFill>
            <a:srgbClr val="EEEA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AutoShape 85"/>
          <p:cNvSpPr txBox="1"/>
          <p:nvPr/>
        </p:nvSpPr>
        <p:spPr>
          <a:xfrm>
            <a:off x="10769600" y="3022600"/>
            <a:ext cx="11684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5833"/>
              </a:lnSpc>
              <a:defRPr/>
            </a:pPr>
            <a:r>
              <a:rPr lang="en-US" sz="1600" b="1" i="0" u="none" strike="noStrike">
                <a:solidFill>
                  <a:srgbClr val="32302C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871 / 2000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5833"/>
              </a:lnSpc>
            </a:pPr>
            <a:r>
              <a:rPr lang="en-US" sz="750" b="0" i="0" u="none" strike="noStrike">
                <a:solidFill>
                  <a:srgbClr val="32302C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Correct test predictions</a:t>
            </a:r>
          </a:p>
        </p:txBody>
      </p:sp>
      <p:sp>
        <p:nvSpPr>
          <p:cNvPr id="86" name="AutoShape 86"/>
          <p:cNvSpPr txBox="1"/>
          <p:nvPr/>
        </p:nvSpPr>
        <p:spPr>
          <a:xfrm>
            <a:off x="8255000" y="3810000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9</a:t>
            </a: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MAIN FINDINGS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Connector 87"/>
          <p:cNvCxnSpPr/>
          <p:nvPr/>
        </p:nvCxnSpPr>
        <p:spPr>
          <a:xfrm rot="-11854">
            <a:off x="8255011" y="40449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AutoShape 88"/>
          <p:cNvSpPr txBox="1"/>
          <p:nvPr/>
        </p:nvSpPr>
        <p:spPr>
          <a:xfrm>
            <a:off x="8255000" y="4114800"/>
            <a:ext cx="368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0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The Hybrid HGB generalized to the held-out test period, achieving </a:t>
            </a:r>
            <a:r>
              <a:rPr lang="en-US" sz="800" b="1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43.55%</a:t>
            </a:r>
            <a:r>
              <a:rPr lang="en-US" sz="80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overall accuracy.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80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When the true cow was retrieved in the Top-160, the model identified it correctly </a:t>
            </a:r>
            <a:r>
              <a:rPr lang="en-US" sz="800" b="1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55.62%</a:t>
            </a:r>
            <a:r>
              <a:rPr lang="en-US" sz="80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of the time.</a:t>
            </a:r>
          </a:p>
          <a:p>
            <a:pPr marL="0" indent="0" algn="l">
              <a:lnSpc>
                <a:spcPct val="108333"/>
              </a:lnSpc>
            </a:pPr>
            <a:r>
              <a:rPr lang="en-US" sz="80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The main remaining bottleneck is candidate retrieval: the true cow was in the Top-160 for only </a:t>
            </a:r>
            <a:r>
              <a:rPr lang="en-US" sz="800" b="1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78.30%</a:t>
            </a:r>
            <a:r>
              <a:rPr lang="en-US" sz="800" b="0" i="0" u="none" strike="noStrike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of test queries.</a:t>
            </a:r>
          </a:p>
        </p:txBody>
      </p:sp>
      <p:sp>
        <p:nvSpPr>
          <p:cNvPr id="89" name="AutoShape 89"/>
          <p:cNvSpPr txBox="1"/>
          <p:nvPr/>
        </p:nvSpPr>
        <p:spPr>
          <a:xfrm>
            <a:off x="8255000" y="5016500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10</a:t>
            </a: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LIMITATIONS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Connector 90"/>
          <p:cNvCxnSpPr/>
          <p:nvPr/>
        </p:nvCxnSpPr>
        <p:spPr>
          <a:xfrm rot="-11854">
            <a:off x="8255011" y="52514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AutoShape 91"/>
          <p:cNvSpPr txBox="1"/>
          <p:nvPr/>
        </p:nvSpPr>
        <p:spPr>
          <a:xfrm>
            <a:off x="8255000" y="5321300"/>
            <a:ext cx="3683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800" b="1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Unseen animals:</a:t>
            </a: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9.40% of test-query IDs had no historical reference and cannot be recovered by this closed-set system.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08333"/>
              </a:lnSpc>
            </a:pPr>
            <a:r>
              <a:rPr lang="en-US" sz="800" b="1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Candidate ceiling:</a:t>
            </a: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the correct cow appeared in Top-160 for only 78.30% of queries, setting an upper bound on accuracy.</a:t>
            </a:r>
          </a:p>
        </p:txBody>
      </p:sp>
      <p:sp>
        <p:nvSpPr>
          <p:cNvPr id="92" name="AutoShape 92"/>
          <p:cNvSpPr txBox="1"/>
          <p:nvPr/>
        </p:nvSpPr>
        <p:spPr>
          <a:xfrm>
            <a:off x="8255000" y="5994400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11 CONCLUSION / NEXT STEPS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Connector 93"/>
          <p:cNvCxnSpPr/>
          <p:nvPr/>
        </p:nvCxnSpPr>
        <p:spPr>
          <a:xfrm rot="-11854">
            <a:off x="8255011" y="6229350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2CEC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" name="AutoShape 94"/>
          <p:cNvSpPr txBox="1"/>
          <p:nvPr/>
        </p:nvSpPr>
        <p:spPr>
          <a:xfrm>
            <a:off x="8255000" y="6299200"/>
            <a:ext cx="3683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 historical candidate-ranking approach can recover missing dairy cow identities from milking-session data. Future work should focus on </a:t>
            </a:r>
            <a:r>
              <a:rPr lang="en-US" sz="800" b="1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candidate retrieval</a:t>
            </a: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 and </a:t>
            </a:r>
            <a:r>
              <a:rPr lang="en-US" sz="800" b="1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unseen-animal handling</a:t>
            </a:r>
            <a:r>
              <a:rPr lang="en-US" sz="800" b="0" i="0" u="none" strike="noStrike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.</a:t>
            </a:r>
            <a:endParaRPr lang="en-US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D2570C59-DC02-1FC6-146A-760EDDE68A0F}"/>
              </a:ext>
            </a:extLst>
          </p:cNvPr>
          <p:cNvSpPr txBox="1">
            <a:spLocks/>
          </p:cNvSpPr>
          <p:nvPr/>
        </p:nvSpPr>
        <p:spPr>
          <a:xfrm>
            <a:off x="4785178" y="355600"/>
            <a:ext cx="2367643" cy="273050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Jingmeng Li</a:t>
            </a:r>
          </a:p>
        </p:txBody>
      </p:sp>
      <p:sp>
        <p:nvSpPr>
          <p:cNvPr id="97" name="Text Placeholder 18">
            <a:extLst>
              <a:ext uri="{FF2B5EF4-FFF2-40B4-BE49-F238E27FC236}">
                <a16:creationId xmlns:a16="http://schemas.microsoft.com/office/drawing/2014/main" id="{467C4ACC-E383-BC90-E233-61518BF5CCAB}"/>
              </a:ext>
            </a:extLst>
          </p:cNvPr>
          <p:cNvSpPr txBox="1">
            <a:spLocks/>
          </p:cNvSpPr>
          <p:nvPr/>
        </p:nvSpPr>
        <p:spPr>
          <a:xfrm>
            <a:off x="3155156" y="564696"/>
            <a:ext cx="5639889" cy="47080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Science, </a:t>
            </a: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Cornell</a:t>
            </a:r>
            <a:r>
              <a: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AutoShape 14">
            <a:extLst>
              <a:ext uri="{FF2B5EF4-FFF2-40B4-BE49-F238E27FC236}">
                <a16:creationId xmlns:a16="http://schemas.microsoft.com/office/drawing/2014/main" id="{97045D4D-BFE8-B851-994D-2030A30F4AF7}"/>
              </a:ext>
            </a:extLst>
          </p:cNvPr>
          <p:cNvSpPr txBox="1"/>
          <p:nvPr/>
        </p:nvSpPr>
        <p:spPr>
          <a:xfrm>
            <a:off x="253999" y="4078767"/>
            <a:ext cx="3683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 dirty="0">
                <a:solidFill>
                  <a:srgbClr val="B31B1B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3 DATA CLEANING AND PREPARATION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3CA0E0F-4E12-E3FD-DCE3-F85A15FE3A53}"/>
              </a:ext>
            </a:extLst>
          </p:cNvPr>
          <p:cNvSpPr txBox="1"/>
          <p:nvPr/>
        </p:nvSpPr>
        <p:spPr>
          <a:xfrm>
            <a:off x="191091" y="4305387"/>
            <a:ext cx="3745908" cy="647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114300">
              <a:lnSpc>
                <a:spcPct val="108333"/>
              </a:lnSpc>
              <a:buClr>
                <a:srgbClr val="3C3A36"/>
              </a:buClr>
              <a:buFont typeface="Arial"/>
              <a:buChar char="•"/>
              <a:defRPr/>
            </a:pPr>
            <a:r>
              <a:rPr lang="en-US" altLang="zh-CN" sz="850" dirty="0">
                <a:solidFill>
                  <a:srgbClr val="1F2933"/>
                </a:solidFill>
                <a:latin typeface="Times New Roman" panose="02020603050405020304" pitchFamily="18" charset="0"/>
                <a:ea typeface="Aptos" pitchFamily="34" charset="-122"/>
                <a:cs typeface="Times New Roman" panose="02020603050405020304" pitchFamily="18" charset="0"/>
              </a:rPr>
              <a:t>Removed exact duplicate rows and implausible records</a:t>
            </a:r>
          </a:p>
          <a:p>
            <a:pPr marL="114300" indent="-114300">
              <a:lnSpc>
                <a:spcPct val="108333"/>
              </a:lnSpc>
              <a:buClr>
                <a:srgbClr val="3C3A36"/>
              </a:buClr>
              <a:buFont typeface="Arial"/>
              <a:buChar char="•"/>
              <a:defRPr/>
            </a:pPr>
            <a:r>
              <a:rPr lang="en-US" altLang="zh-CN" sz="850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Applied Z-score and biological range checks</a:t>
            </a:r>
            <a:endParaRPr lang="en-US" altLang="zh-CN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-114300">
              <a:lnSpc>
                <a:spcPct val="108333"/>
              </a:lnSpc>
              <a:buClr>
                <a:srgbClr val="3C3A36"/>
              </a:buClr>
              <a:buFont typeface="Arial"/>
              <a:buChar char="•"/>
              <a:defRPr/>
            </a:pPr>
            <a:r>
              <a:rPr lang="en-US" altLang="zh-CN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labelled and </a:t>
            </a:r>
            <a:r>
              <a:rPr lang="en-US" altLang="zh-CN" sz="8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unlabelled</a:t>
            </a:r>
            <a:r>
              <a:rPr lang="en-US" altLang="zh-CN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</a:t>
            </a:r>
            <a:endParaRPr lang="en-US" altLang="zh-CN" sz="850" dirty="0">
              <a:solidFill>
                <a:srgbClr val="3C3A36"/>
              </a:solidFill>
              <a:latin typeface="Times New Roman" panose="02020603050405020304" pitchFamily="18" charset="0"/>
              <a:ea typeface="Noto Sans SC"/>
              <a:cs typeface="Times New Roman" panose="02020603050405020304" pitchFamily="18" charset="0"/>
              <a:sym typeface="Noto Sans SC"/>
            </a:endParaRPr>
          </a:p>
          <a:p>
            <a:pPr marL="114300" indent="-114300">
              <a:lnSpc>
                <a:spcPct val="108333"/>
              </a:lnSpc>
              <a:buClr>
                <a:srgbClr val="3C3A36"/>
              </a:buClr>
              <a:buFont typeface="Arial"/>
              <a:buChar char="•"/>
            </a:pPr>
            <a:r>
              <a:rPr lang="en-US" altLang="zh-CN" sz="850" dirty="0">
                <a:solidFill>
                  <a:srgbClr val="3C3A36"/>
                </a:solidFill>
                <a:latin typeface="Times New Roman" panose="02020603050405020304" pitchFamily="18" charset="0"/>
                <a:ea typeface="Noto Sans SC"/>
                <a:cs typeface="Times New Roman" panose="02020603050405020304" pitchFamily="18" charset="0"/>
                <a:sym typeface="Noto Sans SC"/>
              </a:rPr>
              <a:t>Embedded preprocessing in the reference/candidate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525</Words>
  <Application>Microsoft Office PowerPoint</Application>
  <PresentationFormat>宽屏</PresentationFormat>
  <Paragraphs>79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Times New Roman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robin li</dc:creator>
  <cp:lastModifiedBy>Jingmeng Li</cp:lastModifiedBy>
  <cp:revision>7</cp:revision>
  <dcterms:modified xsi:type="dcterms:W3CDTF">2026-10-07T19:47:30Z</dcterms:modified>
</cp:coreProperties>
</file>